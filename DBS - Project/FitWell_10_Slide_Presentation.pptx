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18120" y="0"/>
            <a:ext cx="4370832" cy="6858000"/>
          </a:xfrm>
          <a:prstGeom prst="rect">
            <a:avLst/>
          </a:prstGeom>
          <a:solidFill>
            <a:srgbClr val="1E4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41080" y="1051560"/>
            <a:ext cx="2011680" cy="2011680"/>
          </a:xfrm>
          <a:prstGeom prst="ellipse">
            <a:avLst/>
          </a:prstGeom>
          <a:solidFill>
            <a:srgbClr val="2F5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8915400" y="2075688"/>
            <a:ext cx="365760" cy="0"/>
          </a:xfrm>
          <a:prstGeom prst="line">
            <a:avLst/>
          </a:prstGeom>
          <a:ln w="38100">
            <a:solidFill>
              <a:srgbClr val="FF6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9281160" y="1700784"/>
            <a:ext cx="118872" cy="374904"/>
          </a:xfrm>
          <a:prstGeom prst="line">
            <a:avLst/>
          </a:prstGeom>
          <a:ln w="38100">
            <a:solidFill>
              <a:srgbClr val="FF6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400032" y="1700784"/>
            <a:ext cx="246888" cy="768096"/>
          </a:xfrm>
          <a:prstGeom prst="line">
            <a:avLst/>
          </a:prstGeom>
          <a:ln w="38100">
            <a:solidFill>
              <a:srgbClr val="FF6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646920" y="2075688"/>
            <a:ext cx="155448" cy="393192"/>
          </a:xfrm>
          <a:prstGeom prst="line">
            <a:avLst/>
          </a:prstGeom>
          <a:ln w="38100">
            <a:solidFill>
              <a:srgbClr val="FF6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802368" y="2075688"/>
            <a:ext cx="576072" cy="0"/>
          </a:xfrm>
          <a:prstGeom prst="line">
            <a:avLst/>
          </a:prstGeom>
          <a:ln w="38100">
            <a:solidFill>
              <a:srgbClr val="FF6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8368" y="960120"/>
            <a:ext cx="6217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E4136"/>
                </a:solidFill>
                <a:latin typeface="Aptos"/>
              </a:rPr>
              <a:t>FITWELL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600200"/>
            <a:ext cx="6858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4211B"/>
                </a:solidFill>
                <a:latin typeface="Aptos Display"/>
              </a:rPr>
              <a:t>Online Fitness &amp;
Wellness Management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46120"/>
            <a:ext cx="6126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4C5C52"/>
                </a:solidFill>
                <a:latin typeface="Aptos"/>
              </a:rPr>
              <a:t>A connected web application for personalized workout plans, certified trainers, secure authentication, bookings and wellness services.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370832"/>
            <a:ext cx="2240280" cy="310896"/>
          </a:xfrm>
          <a:prstGeom prst="round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384548"/>
            <a:ext cx="2240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FULL-STACK WEB 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8920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4136"/>
                </a:solidFill>
                <a:latin typeface="Aptos"/>
              </a:rPr>
              <a:t>Frontend  •  REST API  •  MongoDB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89788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C5C52"/>
                </a:solidFill>
                <a:latin typeface="Aptos"/>
              </a:rPr>
              <a:t>Project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534924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10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E4136"/>
                </a:solidFill>
                <a:latin typeface="Aptos"/>
              </a:rPr>
              <a:t>01  •  PROJECT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4211B"/>
                </a:solidFill>
                <a:latin typeface="Aptos Display"/>
              </a:rPr>
              <a:t>Problem, purpose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5331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C5C52"/>
                </a:solidFill>
                <a:latin typeface="Aptos"/>
              </a:rPr>
              <a:t>Why FitWell exists and what the application is designed to solve.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25780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212848"/>
            <a:ext cx="1234440" cy="310896"/>
          </a:xfrm>
          <a:prstGeom prst="round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26564"/>
            <a:ext cx="1234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4480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4211B"/>
                </a:solidFill>
                <a:latin typeface="Aptos"/>
              </a:rPr>
              <a:t>Fitness services are often fragmented.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91840"/>
            <a:ext cx="4480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4C5C52"/>
                </a:solidFill>
                <a:latin typeface="Aptos"/>
              </a:defRPr>
            </a:pPr>
            <a:r>
              <a:t>• Workout plans, trainers and wellness services are managed separately.</a:t>
            </a:r>
          </a:p>
          <a:p>
            <a:pPr>
              <a:spcAft>
                <a:spcPts val="700"/>
              </a:spcAft>
              <a:defRPr sz="1300">
                <a:solidFill>
                  <a:srgbClr val="4C5C52"/>
                </a:solidFill>
                <a:latin typeface="Aptos"/>
              </a:defRPr>
            </a:pPr>
            <a:r>
              <a:t>• Users need a simple way to discover programs and book support.</a:t>
            </a:r>
          </a:p>
          <a:p>
            <a:pPr>
              <a:spcAft>
                <a:spcPts val="700"/>
              </a:spcAft>
              <a:defRPr sz="1300">
                <a:solidFill>
                  <a:srgbClr val="4C5C52"/>
                </a:solidFill>
                <a:latin typeface="Aptos"/>
              </a:defRPr>
            </a:pPr>
            <a:r>
              <a:t>• Authentication and booking status should persist through a real backend.</a:t>
            </a:r>
          </a:p>
          <a:p>
            <a:pPr>
              <a:spcAft>
                <a:spcPts val="700"/>
              </a:spcAft>
              <a:defRPr sz="1300">
                <a:solidFill>
                  <a:srgbClr val="4C5C52"/>
                </a:solidFill>
                <a:latin typeface="Aptos"/>
              </a:defRPr>
            </a:pPr>
            <a:r>
              <a:t>• A scalable data model is needed for users, programs, trainers and payments.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965960"/>
            <a:ext cx="5394960" cy="3611880"/>
          </a:xfrm>
          <a:prstGeom prst="roundRect">
            <a:avLst/>
          </a:prstGeom>
          <a:solidFill>
            <a:srgbClr val="1E4136"/>
          </a:solidFill>
          <a:ln w="12700">
            <a:solidFill>
              <a:srgbClr val="1E4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82512" y="2212848"/>
            <a:ext cx="1188720" cy="310896"/>
          </a:xfrm>
          <a:prstGeom prst="roundRect">
            <a:avLst/>
          </a:prstGeom>
          <a:solidFill>
            <a:srgbClr val="F2B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2226564"/>
            <a:ext cx="1188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4211B"/>
                </a:solidFill>
                <a:latin typeface="Aptos"/>
              </a:rPr>
              <a:t>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697480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One connected fitness experience.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310128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2B441"/>
                </a:solidFill>
                <a:latin typeface="Apto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3310128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Personalize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3310128"/>
            <a:ext cx="3246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7E1DA"/>
                </a:solidFill>
                <a:latin typeface="Aptos"/>
              </a:rPr>
              <a:t>Offer categorized programs and trainer expertise.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822191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2B441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9712" y="3822191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Simplify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3822191"/>
            <a:ext cx="3246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7E1DA"/>
                </a:solidFill>
                <a:latin typeface="Aptos"/>
              </a:rPr>
              <a:t>Reduce booking to a one-click flow.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334256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2B441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9712" y="4334256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Secure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4334256"/>
            <a:ext cx="3246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7E1DA"/>
                </a:solidFill>
                <a:latin typeface="Aptos"/>
              </a:rPr>
              <a:t>Use hashed passwords and JWT-based access.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846320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2B441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9712" y="4846320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4846320"/>
            <a:ext cx="3246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7E1DA"/>
                </a:solidFill>
                <a:latin typeface="Aptos"/>
              </a:rPr>
              <a:t>Separate domain models for clean data management.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749807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4C5C52"/>
                </a:solidFill>
                <a:latin typeface="Aptos"/>
              </a:rPr>
              <a:t>FITWELL  •  FULL-STACK FITNESS &amp; WELLNESS 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E4136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E4136"/>
                </a:solidFill>
                <a:latin typeface="Aptos"/>
              </a:rPr>
              <a:t>02  • 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4211B"/>
                </a:solidFill>
                <a:latin typeface="Aptos Display"/>
              </a:rPr>
              <a:t>FitWell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5331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C5C52"/>
                </a:solidFill>
                <a:latin typeface="Aptos"/>
              </a:rPr>
              <a:t>The application connects the member journey from discovery to confirmed booking.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40280"/>
            <a:ext cx="20574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2450592"/>
            <a:ext cx="438912" cy="310896"/>
          </a:xfrm>
          <a:prstGeom prst="round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464308"/>
            <a:ext cx="4389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98648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136"/>
                </a:solidFill>
                <a:latin typeface="Aptos"/>
              </a:rPr>
              <a:t>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273552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C5C52"/>
                </a:solidFill>
                <a:latin typeface="Aptos"/>
              </a:rPr>
              <a:t>Browse plans &amp; trainers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60320" y="3182112"/>
            <a:ext cx="182880" cy="0"/>
          </a:xfrm>
          <a:prstGeom prst="line">
            <a:avLst/>
          </a:prstGeom>
          <a:ln w="25400">
            <a:solidFill>
              <a:srgbClr val="8FB0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43200" y="2240280"/>
            <a:ext cx="20574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98648" y="2450592"/>
            <a:ext cx="438912" cy="310896"/>
          </a:xfrm>
          <a:prstGeom prst="round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98648" y="2464308"/>
            <a:ext cx="4389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8648" y="2898648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136"/>
                </a:solidFill>
                <a:latin typeface="Aptos"/>
              </a:rPr>
              <a:t>AUTHENTICATE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8648" y="3273552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C5C52"/>
                </a:solidFill>
                <a:latin typeface="Aptos"/>
              </a:rPr>
              <a:t>Register / login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00600" y="3182112"/>
            <a:ext cx="182880" cy="0"/>
          </a:xfrm>
          <a:prstGeom prst="line">
            <a:avLst/>
          </a:prstGeom>
          <a:ln w="25400">
            <a:solidFill>
              <a:srgbClr val="8FB0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983480" y="2240280"/>
            <a:ext cx="20574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38928" y="2450592"/>
            <a:ext cx="438912" cy="310896"/>
          </a:xfrm>
          <a:prstGeom prst="round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38928" y="2464308"/>
            <a:ext cx="4389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38928" y="2898648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136"/>
                </a:solidFill>
                <a:latin typeface="Aptos"/>
              </a:rPr>
              <a:t>BOOK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8928" y="3273552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C5C52"/>
                </a:solidFill>
                <a:latin typeface="Aptos"/>
              </a:rPr>
              <a:t>Choose a program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40880" y="3182112"/>
            <a:ext cx="182880" cy="0"/>
          </a:xfrm>
          <a:prstGeom prst="line">
            <a:avLst/>
          </a:prstGeom>
          <a:ln w="25400">
            <a:solidFill>
              <a:srgbClr val="8FB0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23760" y="2240280"/>
            <a:ext cx="20574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79208" y="2450592"/>
            <a:ext cx="438912" cy="310896"/>
          </a:xfrm>
          <a:prstGeom prst="round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79208" y="2464308"/>
            <a:ext cx="4389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79208" y="2898648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136"/>
                </a:solidFill>
                <a:latin typeface="Aptos"/>
              </a:rPr>
              <a:t>PAY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79208" y="3273552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C5C52"/>
                </a:solidFill>
                <a:latin typeface="Aptos"/>
              </a:rPr>
              <a:t>Payment record created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81160" y="3182112"/>
            <a:ext cx="182880" cy="0"/>
          </a:xfrm>
          <a:prstGeom prst="line">
            <a:avLst/>
          </a:prstGeom>
          <a:ln w="25400">
            <a:solidFill>
              <a:srgbClr val="8FB0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464040" y="2240280"/>
            <a:ext cx="20574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19488" y="2450592"/>
            <a:ext cx="438912" cy="310896"/>
          </a:xfrm>
          <a:prstGeom prst="round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19488" y="2464308"/>
            <a:ext cx="4389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19488" y="2898648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136"/>
                </a:solidFill>
                <a:latin typeface="Aptos"/>
              </a:rPr>
              <a:t>TRACK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19488" y="3273552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C5C52"/>
                </a:solidFill>
                <a:latin typeface="Aptos"/>
              </a:rPr>
              <a:t>View My Bookings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617720"/>
            <a:ext cx="2560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" y="4800600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11B"/>
                </a:solidFill>
                <a:latin typeface="Aptos"/>
              </a:rPr>
              <a:t>Workout Plans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" y="5138928"/>
            <a:ext cx="2240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C5C52"/>
                </a:solidFill>
                <a:latin typeface="Aptos"/>
              </a:rPr>
              <a:t>Weight loss, strength, yoga, home workout, nutrition and mindfulness.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74720" y="4617720"/>
            <a:ext cx="2560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21024" y="4800600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11B"/>
                </a:solidFill>
                <a:latin typeface="Aptos"/>
              </a:rPr>
              <a:t>Trainer Matching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21024" y="5138928"/>
            <a:ext cx="2240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C5C52"/>
                </a:solidFill>
                <a:latin typeface="Aptos"/>
              </a:rPr>
              <a:t>Program category is used to select a suitable trainer.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9360" y="4617720"/>
            <a:ext cx="2560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55664" y="4800600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11B"/>
                </a:solidFill>
                <a:latin typeface="Aptos"/>
              </a:rPr>
              <a:t>Booking History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55664" y="5138928"/>
            <a:ext cx="2240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C5C52"/>
                </a:solidFill>
                <a:latin typeface="Aptos"/>
              </a:rPr>
              <a:t>Authenticated members can retrieve their own bookings.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0" y="4617720"/>
            <a:ext cx="2560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90304" y="4800600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11B"/>
                </a:solidFill>
                <a:latin typeface="Aptos"/>
              </a:rPr>
              <a:t>Feedback Ready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90304" y="5138928"/>
            <a:ext cx="2240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C5C52"/>
                </a:solidFill>
                <a:latin typeface="Aptos"/>
              </a:rPr>
              <a:t>Review model supports trainer ratings and member stories.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6510528"/>
            <a:ext cx="749807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4C5C52"/>
                </a:solidFill>
                <a:latin typeface="Aptos"/>
              </a:rPr>
              <a:t>FITWELL  •  FULL-STACK FITNESS &amp; WELLNESS PLATFORM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E4136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E4136"/>
                </a:solidFill>
                <a:latin typeface="Aptos"/>
              </a:rPr>
              <a:t>03  • 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4211B"/>
                </a:solidFill>
                <a:latin typeface="Aptos Display"/>
              </a:rPr>
              <a:t>Core features &amp;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5331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C5C52"/>
                </a:solidFill>
                <a:latin typeface="Aptos"/>
              </a:rPr>
              <a:t>The current UI combines a polished wellness landing page with functional account and booking flows.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2578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1" y="2130552"/>
            <a:ext cx="420624" cy="310896"/>
          </a:xfrm>
          <a:prstGeom prst="round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2144268"/>
            <a:ext cx="42062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2112264"/>
            <a:ext cx="41605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11B"/>
                </a:solidFill>
                <a:latin typeface="Aptos"/>
              </a:rPr>
              <a:t>Landing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2441448"/>
            <a:ext cx="4160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C5C52"/>
                </a:solidFill>
                <a:latin typeface="Aptos"/>
              </a:rPr>
              <a:t>Hero section, CTA buttons, plan cards, trainer section, wellness categories, testimonials and footer.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65960"/>
            <a:ext cx="52578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82512" y="2130552"/>
            <a:ext cx="420624" cy="310896"/>
          </a:xfrm>
          <a:prstGeom prst="round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2144268"/>
            <a:ext cx="42062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7728" y="2112264"/>
            <a:ext cx="41605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11B"/>
                </a:solidFill>
                <a:latin typeface="Aptos"/>
              </a:rPr>
              <a:t>Login / Sign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2441448"/>
            <a:ext cx="4160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C5C52"/>
                </a:solidFill>
                <a:latin typeface="Aptos"/>
              </a:rPr>
              <a:t>Email validation, password field, remember-me UI, login/register mode and social-login UI.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91839"/>
            <a:ext cx="52578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1" y="3456432"/>
            <a:ext cx="420624" cy="310896"/>
          </a:xfrm>
          <a:prstGeom prst="round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" y="3470148"/>
            <a:ext cx="42062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438144"/>
            <a:ext cx="41605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11B"/>
                </a:solidFill>
                <a:latin typeface="Aptos"/>
              </a:rPr>
              <a:t>Workout &amp; wellness plans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3767327"/>
            <a:ext cx="4160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C5C52"/>
                </a:solidFill>
                <a:latin typeface="Aptos"/>
              </a:rPr>
              <a:t>Program cards show category, duration, price and a Book Now action.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291839"/>
            <a:ext cx="52578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82512" y="3456432"/>
            <a:ext cx="420624" cy="310896"/>
          </a:xfrm>
          <a:prstGeom prst="round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3470148"/>
            <a:ext cx="42062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3438144"/>
            <a:ext cx="41605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11B"/>
                </a:solidFill>
                <a:latin typeface="Aptos"/>
              </a:rPr>
              <a:t>Trainer directory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3767327"/>
            <a:ext cx="4160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C5C52"/>
                </a:solidFill>
                <a:latin typeface="Aptos"/>
              </a:rPr>
              <a:t>Trainer profiles expose specialties, certification status, experience and ratings.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617720"/>
            <a:ext cx="52578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4671" y="4782312"/>
            <a:ext cx="420624" cy="310896"/>
          </a:xfrm>
          <a:prstGeom prst="round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1" y="4796027"/>
            <a:ext cx="42062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9888" y="4764024"/>
            <a:ext cx="41605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11B"/>
                </a:solidFill>
                <a:latin typeface="Aptos"/>
              </a:rPr>
              <a:t>My Bookings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9888" y="5093208"/>
            <a:ext cx="4160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C5C52"/>
                </a:solidFill>
                <a:latin typeface="Aptos"/>
              </a:rPr>
              <a:t>Authenticated members can view bookings returned from the backend.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617720"/>
            <a:ext cx="52578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82512" y="4782312"/>
            <a:ext cx="420624" cy="310896"/>
          </a:xfrm>
          <a:prstGeom prst="round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82512" y="4796027"/>
            <a:ext cx="42062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67728" y="4764024"/>
            <a:ext cx="41605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11B"/>
                </a:solidFill>
                <a:latin typeface="Aptos"/>
              </a:rPr>
              <a:t>Feedback UX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5093208"/>
            <a:ext cx="4160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C5C52"/>
                </a:solidFill>
                <a:latin typeface="Aptos"/>
              </a:rPr>
              <a:t>Toast-style success/error feedback communicates API outcomes to the user.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6016752"/>
            <a:ext cx="10927080" cy="365760"/>
          </a:xfrm>
          <a:prstGeom prst="roundRect">
            <a:avLst/>
          </a:prstGeom>
          <a:solidFill>
            <a:srgbClr val="DCE7DD"/>
          </a:solidFill>
          <a:ln w="12700">
            <a:solidFill>
              <a:srgbClr val="DC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" y="6080760"/>
            <a:ext cx="10515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E4136"/>
                </a:solidFill>
                <a:latin typeface="Aptos"/>
              </a:rPr>
              <a:t>Implementation note: Google/Apple buttons are UI elements; the current backend implements email/password authentication.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510528"/>
            <a:ext cx="749807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4C5C52"/>
                </a:solidFill>
                <a:latin typeface="Aptos"/>
              </a:rPr>
              <a:t>FITWELL  •  FULL-STACK FITNESS &amp; WELLNESS PLATFORM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E4136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E4136"/>
                </a:solidFill>
                <a:latin typeface="Aptos"/>
              </a:rPr>
              <a:t>04  •  USER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4211B"/>
                </a:solidFill>
                <a:latin typeface="Aptos Display"/>
              </a:rPr>
              <a:t>End-to-end booking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5331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C5C52"/>
                </a:solidFill>
                <a:latin typeface="Aptos"/>
              </a:rPr>
              <a:t>A single program selection triggers the backend flow that creates both a booking and a payment record.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874519"/>
            <a:ext cx="347472" cy="347472"/>
          </a:xfrm>
          <a:prstGeom prst="ellipse">
            <a:avLst/>
          </a:prstGeom>
          <a:solidFill>
            <a:srgbClr val="2F5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06524"/>
            <a:ext cx="34747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856231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F5D50"/>
                </a:solidFill>
                <a:latin typeface="Aptos"/>
              </a:rPr>
              <a:t>MEMBER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856231"/>
            <a:ext cx="5303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C5C52"/>
                </a:solidFill>
                <a:latin typeface="Aptos"/>
              </a:rPr>
              <a:t>Opens FitWell and explores programs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05256" y="2221991"/>
            <a:ext cx="0" cy="274321"/>
          </a:xfrm>
          <a:prstGeom prst="line">
            <a:avLst/>
          </a:prstGeom>
          <a:ln w="25400">
            <a:solidFill>
              <a:srgbClr val="8FB0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731520" y="2496312"/>
            <a:ext cx="347472" cy="347472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28316"/>
            <a:ext cx="34747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478024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6B4A"/>
                </a:solidFill>
                <a:latin typeface="Aptos"/>
              </a:rPr>
              <a:t>ACCOUNT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478024"/>
            <a:ext cx="5303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C5C52"/>
                </a:solidFill>
                <a:latin typeface="Aptos"/>
              </a:rPr>
              <a:t>Registers / logs in
JWT stored in localStorage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05256" y="2843784"/>
            <a:ext cx="0" cy="274320"/>
          </a:xfrm>
          <a:prstGeom prst="line">
            <a:avLst/>
          </a:prstGeom>
          <a:ln w="25400">
            <a:solidFill>
              <a:srgbClr val="8FB0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31520" y="3118104"/>
            <a:ext cx="347472" cy="347472"/>
          </a:xfrm>
          <a:prstGeom prst="ellipse">
            <a:avLst/>
          </a:prstGeom>
          <a:solidFill>
            <a:srgbClr val="2F5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150108"/>
            <a:ext cx="34747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099816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F5D50"/>
                </a:solidFill>
                <a:latin typeface="Aptos"/>
              </a:rPr>
              <a:t>PROGRAM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3099816"/>
            <a:ext cx="5303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C5C52"/>
                </a:solidFill>
                <a:latin typeface="Aptos"/>
              </a:rPr>
              <a:t>Selects an active program
using its database _id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05256" y="3465576"/>
            <a:ext cx="0" cy="274320"/>
          </a:xfrm>
          <a:prstGeom prst="line">
            <a:avLst/>
          </a:prstGeom>
          <a:ln w="25400">
            <a:solidFill>
              <a:srgbClr val="8FB0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31520" y="3739896"/>
            <a:ext cx="347472" cy="347472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771900"/>
            <a:ext cx="34747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72160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6B4A"/>
                </a:solidFill>
                <a:latin typeface="Aptos"/>
              </a:rPr>
              <a:t>BOOKING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3721608"/>
            <a:ext cx="5303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C5C52"/>
                </a:solidFill>
                <a:latin typeface="Aptos"/>
              </a:rPr>
              <a:t>POST /api/bookings
Bearer token required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05256" y="4087368"/>
            <a:ext cx="0" cy="274320"/>
          </a:xfrm>
          <a:prstGeom prst="line">
            <a:avLst/>
          </a:prstGeom>
          <a:ln w="25400">
            <a:solidFill>
              <a:srgbClr val="8FB0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731520" y="4361688"/>
            <a:ext cx="347472" cy="347472"/>
          </a:xfrm>
          <a:prstGeom prst="ellipse">
            <a:avLst/>
          </a:prstGeom>
          <a:solidFill>
            <a:srgbClr val="2F5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393692"/>
            <a:ext cx="34747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3434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F5D50"/>
                </a:solidFill>
                <a:latin typeface="Aptos"/>
              </a:rPr>
              <a:t>ASSIGNMENT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3240" y="4343400"/>
            <a:ext cx="5303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C5C52"/>
                </a:solidFill>
                <a:latin typeface="Aptos"/>
              </a:rPr>
              <a:t>Find trainer by matching specialty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05256" y="4709159"/>
            <a:ext cx="0" cy="274320"/>
          </a:xfrm>
          <a:prstGeom prst="line">
            <a:avLst/>
          </a:prstGeom>
          <a:ln w="25400">
            <a:solidFill>
              <a:srgbClr val="8FB0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731520" y="4983480"/>
            <a:ext cx="347472" cy="347472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015484"/>
            <a:ext cx="34747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496519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6B4A"/>
                </a:solidFill>
                <a:latin typeface="Aptos"/>
              </a:rPr>
              <a:t>CHECKOUT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63240" y="4965192"/>
            <a:ext cx="5303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C5C52"/>
                </a:solidFill>
                <a:latin typeface="Aptos"/>
              </a:rPr>
              <a:t>Payment record created
status = paid (mock)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05256" y="5330952"/>
            <a:ext cx="0" cy="274320"/>
          </a:xfrm>
          <a:prstGeom prst="line">
            <a:avLst/>
          </a:prstGeom>
          <a:ln w="25400">
            <a:solidFill>
              <a:srgbClr val="8FB0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731520" y="5605272"/>
            <a:ext cx="347472" cy="347472"/>
          </a:xfrm>
          <a:prstGeom prst="ellipse">
            <a:avLst/>
          </a:prstGeom>
          <a:solidFill>
            <a:srgbClr val="2F5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637276"/>
            <a:ext cx="34747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25880" y="5586984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F5D50"/>
                </a:solidFill>
                <a:latin typeface="Aptos"/>
              </a:rPr>
              <a:t>CONFIRMATION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63240" y="5586984"/>
            <a:ext cx="5303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C5C52"/>
                </a:solidFill>
                <a:latin typeface="Aptos"/>
              </a:rPr>
              <a:t>Booking returned + visible in My Bookings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86800" y="1874519"/>
            <a:ext cx="2834640" cy="4434840"/>
          </a:xfrm>
          <a:prstGeom prst="roundRect">
            <a:avLst/>
          </a:prstGeom>
          <a:solidFill>
            <a:srgbClr val="1E4136"/>
          </a:solidFill>
          <a:ln w="12700">
            <a:solidFill>
              <a:srgbClr val="1E4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79408" y="2176272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What happens in the backend?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79408" y="2880360"/>
            <a:ext cx="2148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D7E1DA"/>
                </a:solidFill>
                <a:latin typeface="Aptos"/>
              </a:defRPr>
            </a:pPr>
            <a:r>
              <a:t>• Validate authenticated user.</a:t>
            </a:r>
          </a:p>
          <a:p>
            <a:pPr>
              <a:spcAft>
                <a:spcPts val="700"/>
              </a:spcAft>
              <a:defRPr sz="1100">
                <a:solidFill>
                  <a:srgbClr val="D7E1DA"/>
                </a:solidFill>
                <a:latin typeface="Aptos"/>
              </a:defRPr>
            </a:pPr>
            <a:r>
              <a:t>• Load the selected active program.</a:t>
            </a:r>
          </a:p>
          <a:p>
            <a:pPr>
              <a:spcAft>
                <a:spcPts val="700"/>
              </a:spcAft>
              <a:defRPr sz="1100">
                <a:solidFill>
                  <a:srgbClr val="D7E1DA"/>
                </a:solidFill>
                <a:latin typeface="Aptos"/>
              </a:defRPr>
            </a:pPr>
            <a:r>
              <a:t>• Find a trainer whose specialty matches the program category.</a:t>
            </a:r>
          </a:p>
          <a:p>
            <a:pPr>
              <a:spcAft>
                <a:spcPts val="700"/>
              </a:spcAft>
              <a:defRPr sz="1100">
                <a:solidFill>
                  <a:srgbClr val="D7E1DA"/>
                </a:solidFill>
                <a:latin typeface="Aptos"/>
              </a:defRPr>
            </a:pPr>
            <a:r>
              <a:t>• Create Booking with confirmed status.</a:t>
            </a:r>
          </a:p>
          <a:p>
            <a:pPr>
              <a:spcAft>
                <a:spcPts val="700"/>
              </a:spcAft>
              <a:defRPr sz="1100">
                <a:solidFill>
                  <a:srgbClr val="D7E1DA"/>
                </a:solidFill>
                <a:latin typeface="Aptos"/>
              </a:defRPr>
            </a:pPr>
            <a:r>
              <a:t>• Create Payment record.</a:t>
            </a:r>
          </a:p>
          <a:p>
            <a:pPr>
              <a:spcAft>
                <a:spcPts val="700"/>
              </a:spcAft>
              <a:defRPr sz="1100">
                <a:solidFill>
                  <a:srgbClr val="D7E1DA"/>
                </a:solidFill>
                <a:latin typeface="Aptos"/>
              </a:defRPr>
            </a:pPr>
            <a:r>
              <a:t>• Return populated booking + payment JSON.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79408" y="5687568"/>
            <a:ext cx="1234440" cy="310896"/>
          </a:xfrm>
          <a:prstGeom prst="roundRect">
            <a:avLst/>
          </a:prstGeom>
          <a:solidFill>
            <a:srgbClr val="F2B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79408" y="5701283"/>
            <a:ext cx="1234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4211B"/>
                </a:solidFill>
                <a:latin typeface="Aptos"/>
              </a:rPr>
              <a:t>MOCK PAYMENT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6510528"/>
            <a:ext cx="749807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4C5C52"/>
                </a:solidFill>
                <a:latin typeface="Aptos"/>
              </a:rPr>
              <a:t>FITWELL  •  FULL-STACK FITNESS &amp; WELLNESS PLATFORM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E4136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E4136"/>
                </a:solidFill>
                <a:latin typeface="Aptos"/>
              </a:rPr>
              <a:t>05  •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4211B"/>
                </a:solidFill>
                <a:latin typeface="Aptos Display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5331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C5C52"/>
                </a:solidFill>
                <a:latin typeface="Aptos"/>
              </a:rPr>
              <a:t>Clear separation between presentation, API/business logic and persistent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7315200" cy="822960"/>
          </a:xfrm>
          <a:prstGeom prst="roundRect">
            <a:avLst/>
          </a:prstGeom>
          <a:solidFill>
            <a:srgbClr val="DCE7DD"/>
          </a:solidFill>
          <a:ln w="12700">
            <a:solidFill>
              <a:srgbClr val="D9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47672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4136"/>
                </a:solidFill>
                <a:latin typeface="Aptos"/>
              </a:rPr>
              <a:t>CLIENT /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1947672"/>
            <a:ext cx="4663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C5C52"/>
                </a:solidFill>
                <a:latin typeface="Aptos"/>
              </a:rPr>
              <a:t>home.html  •  login.html  •  styles.css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2240280"/>
            <a:ext cx="4663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C5C52"/>
                </a:solidFill>
                <a:latin typeface="Aptos"/>
              </a:rPr>
              <a:t>Browser UI • fetch() • localStorage JWT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26280" y="2651760"/>
            <a:ext cx="0" cy="228600"/>
          </a:xfrm>
          <a:prstGeom prst="line">
            <a:avLst/>
          </a:prstGeom>
          <a:ln w="25400">
            <a:solidFill>
              <a:srgbClr val="8FB0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4400" y="2880360"/>
            <a:ext cx="73152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999232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F5D50"/>
                </a:solidFill>
                <a:latin typeface="Aptos"/>
              </a:rPr>
              <a:t>REST API /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999232"/>
            <a:ext cx="4663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C5C52"/>
                </a:solidFill>
                <a:latin typeface="Aptos"/>
              </a:rPr>
              <a:t>Express.js  •  routes/  •  middleware/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3291840"/>
            <a:ext cx="4663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C5C52"/>
                </a:solidFill>
                <a:latin typeface="Aptos"/>
              </a:rPr>
              <a:t>Authentication • validation • booking logic • CORS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26280" y="3703320"/>
            <a:ext cx="0" cy="228600"/>
          </a:xfrm>
          <a:prstGeom prst="line">
            <a:avLst/>
          </a:prstGeom>
          <a:ln w="25400">
            <a:solidFill>
              <a:srgbClr val="8FB0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" y="3931920"/>
            <a:ext cx="7315200" cy="822960"/>
          </a:xfrm>
          <a:prstGeom prst="roundRect">
            <a:avLst/>
          </a:prstGeom>
          <a:solidFill>
            <a:srgbClr val="DCE7DD"/>
          </a:solidFill>
          <a:ln w="12700">
            <a:solidFill>
              <a:srgbClr val="D9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50791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4136"/>
                </a:solidFill>
                <a:latin typeface="Aptos"/>
              </a:rPr>
              <a:t>DATA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4050791"/>
            <a:ext cx="4663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C5C52"/>
                </a:solidFill>
                <a:latin typeface="Aptos"/>
              </a:rPr>
              <a:t>Mongoose  •  models/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4343400"/>
            <a:ext cx="4663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C5C52"/>
                </a:solidFill>
                <a:latin typeface="Aptos"/>
              </a:rPr>
              <a:t>Schemas • relationships • indexes • queries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26280" y="4754880"/>
            <a:ext cx="0" cy="228600"/>
          </a:xfrm>
          <a:prstGeom prst="line">
            <a:avLst/>
          </a:prstGeom>
          <a:ln w="25400">
            <a:solidFill>
              <a:srgbClr val="8FB0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14400" y="4983480"/>
            <a:ext cx="7315200" cy="822960"/>
          </a:xfrm>
          <a:prstGeom prst="roundRect">
            <a:avLst/>
          </a:prstGeom>
          <a:solidFill>
            <a:srgbClr val="1E4136"/>
          </a:solidFill>
          <a:ln w="12700">
            <a:solidFill>
              <a:srgbClr val="1E4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102352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5102352"/>
            <a:ext cx="4663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MongoDB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5394960"/>
            <a:ext cx="4663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Users • Programs • Trainers • Bookings • Payments • Reviews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41080" y="1828800"/>
            <a:ext cx="28346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15400" y="2103120"/>
            <a:ext cx="1234440" cy="310896"/>
          </a:xfrm>
          <a:prstGeom prst="round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15400" y="2116836"/>
            <a:ext cx="1234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REQUEST PATH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42832" y="269748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11B"/>
                </a:solidFill>
                <a:latin typeface="Aptos"/>
              </a:rPr>
              <a:t>Browser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42832" y="304495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4136"/>
                </a:solidFill>
                <a:latin typeface="Aptos"/>
              </a:rPr>
              <a:t>↓ fetch('/api/...')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42832" y="349300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11B"/>
                </a:solidFill>
                <a:latin typeface="Aptos"/>
              </a:rPr>
              <a:t>Express route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42832" y="384048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4136"/>
                </a:solidFill>
                <a:latin typeface="Aptos"/>
              </a:rPr>
              <a:t>↓ Mongoose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42832" y="4288536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11B"/>
                </a:solidFill>
                <a:latin typeface="Aptos"/>
              </a:rPr>
              <a:t>MongoDB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42832" y="4919472"/>
            <a:ext cx="2057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C5C52"/>
                </a:solidFill>
                <a:latin typeface="Aptos"/>
              </a:rPr>
              <a:t>JWT protects member-specific endpoints.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749807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4C5C52"/>
                </a:solidFill>
                <a:latin typeface="Aptos"/>
              </a:rPr>
              <a:t>FITWELL  •  FULL-STACK FITNESS &amp; WELLNESS PLATFORM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E4136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E4136"/>
                </a:solidFill>
                <a:latin typeface="Aptos"/>
              </a:rPr>
              <a:t>06  • 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4211B"/>
                </a:solidFill>
                <a:latin typeface="Aptos Display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5331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C5C52"/>
                </a:solidFill>
                <a:latin typeface="Aptos"/>
              </a:rPr>
              <a:t>The implementation uses a lightweight JavaScript stack with MongoDB persistence.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2514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020824"/>
            <a:ext cx="21854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6B4A"/>
                </a:solidFill>
                <a:latin typeface="Aptos"/>
              </a:rPr>
              <a:t>HTML5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350008"/>
            <a:ext cx="2185416" cy="4846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C5C52"/>
                </a:solidFill>
                <a:latin typeface="Aptos"/>
              </a:rPr>
              <a:t>Semantic page structure and UI content.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874519"/>
            <a:ext cx="2514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2020824"/>
            <a:ext cx="21854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F5D50"/>
                </a:solidFill>
                <a:latin typeface="Aptos"/>
              </a:rPr>
              <a:t>CSS3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2350008"/>
            <a:ext cx="2185416" cy="4846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C5C52"/>
                </a:solidFill>
                <a:latin typeface="Aptos"/>
              </a:rPr>
              <a:t>Responsive layout, design tokens, cards and animations.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874519"/>
            <a:ext cx="2514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45352" y="2020824"/>
            <a:ext cx="21854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B441"/>
                </a:solidFill>
                <a:latin typeface="Aptos"/>
              </a:rPr>
              <a:t>JavaScript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5352" y="2350008"/>
            <a:ext cx="2185416" cy="4846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C5C52"/>
                </a:solidFill>
                <a:latin typeface="Aptos"/>
              </a:rPr>
              <a:t>Client-side fetch, auth state and booking interactions.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1874519"/>
            <a:ext cx="2514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42832" y="2020824"/>
            <a:ext cx="21854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4136"/>
                </a:solidFill>
                <a:latin typeface="Aptos"/>
              </a:rPr>
              <a:t>Express.js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42832" y="2350008"/>
            <a:ext cx="2185416" cy="4846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C5C52"/>
                </a:solidFill>
                <a:latin typeface="Aptos"/>
              </a:rPr>
              <a:t>REST API server and route handling.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3337560"/>
            <a:ext cx="2514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76272" y="3483864"/>
            <a:ext cx="21854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4136"/>
                </a:solidFill>
                <a:latin typeface="Aptos"/>
              </a:rPr>
              <a:t>Node.js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76272" y="3813048"/>
            <a:ext cx="2185416" cy="4846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C5C52"/>
                </a:solidFill>
                <a:latin typeface="Aptos"/>
              </a:rPr>
              <a:t>Runtime for the backend application.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46320" y="3337560"/>
            <a:ext cx="2514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10912" y="3483864"/>
            <a:ext cx="21854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F5D50"/>
                </a:solidFill>
                <a:latin typeface="Aptos"/>
              </a:rPr>
              <a:t>MongoDB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10912" y="3813048"/>
            <a:ext cx="2185416" cy="4846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C5C52"/>
                </a:solidFill>
                <a:latin typeface="Aptos"/>
              </a:rPr>
              <a:t>Persistent document database.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0" y="3337560"/>
            <a:ext cx="2514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45552" y="3483864"/>
            <a:ext cx="21854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6B4A"/>
                </a:solidFill>
                <a:latin typeface="Aptos"/>
              </a:rPr>
              <a:t>Mongoose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5552" y="3813048"/>
            <a:ext cx="2185416" cy="4846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C5C52"/>
                </a:solidFill>
                <a:latin typeface="Aptos"/>
              </a:rPr>
              <a:t>Schemas, relationships, validation and indexes.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892040"/>
            <a:ext cx="10607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074920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4136"/>
                </a:solidFill>
                <a:latin typeface="Aptos"/>
              </a:rPr>
              <a:t>Backend packages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5074920"/>
            <a:ext cx="8412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C5C52"/>
                </a:solidFill>
                <a:latin typeface="Aptos"/>
              </a:rPr>
              <a:t>bcryptjs   •   jsonwebtoken   •   cors   •   dotenv   •   express   •   mongoose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532120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211B"/>
                </a:solidFill>
                <a:latin typeface="Aptos"/>
              </a:rPr>
              <a:t>Run:  npm install  →  npm run seed  →  npm start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749807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4C5C52"/>
                </a:solidFill>
                <a:latin typeface="Aptos"/>
              </a:rPr>
              <a:t>FITWELL  •  FULL-STACK FITNESS &amp; WELLNESS PLATFORM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E4136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E4136"/>
                </a:solidFill>
                <a:latin typeface="Aptos"/>
              </a:rPr>
              <a:t>07  • 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4211B"/>
                </a:solidFill>
                <a:latin typeface="Aptos Display"/>
              </a:rPr>
              <a:t>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5331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C5C52"/>
                </a:solidFill>
                <a:latin typeface="Aptos"/>
              </a:rPr>
              <a:t>Domain entities are separated so user identity, trainer data, programs, bookings and payments remain manageable.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40156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99339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4136"/>
                </a:solidFill>
                <a:latin typeface="Aptos"/>
              </a:rP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395728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C5C52"/>
                </a:solidFill>
                <a:latin typeface="Aptos"/>
              </a:rPr>
              <a:t>name • email • passwordHash • role • active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999232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6B4A"/>
                </a:solidFill>
                <a:latin typeface="Aptos"/>
              </a:rPr>
              <a:t>member / trainer / admin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28800"/>
            <a:ext cx="340156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99339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4136"/>
                </a:solidFill>
                <a:latin typeface="Aptos"/>
              </a:rPr>
              <a:t>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395728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C5C52"/>
                </a:solidFill>
                <a:latin typeface="Aptos"/>
              </a:rPr>
              <a:t>user • specialties • certifications • ratingAvg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999232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6B4A"/>
                </a:solidFill>
                <a:latin typeface="Aptos"/>
              </a:rPr>
              <a:t>1-to-1 extension of User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828800"/>
            <a:ext cx="340156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1" y="199339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4136"/>
                </a:solidFill>
                <a:latin typeface="Aptos"/>
              </a:rPr>
              <a:t>Program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1" y="2395728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C5C52"/>
                </a:solidFill>
                <a:latin typeface="Aptos"/>
              </a:rPr>
              <a:t>title • category • duration • price • active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1" y="2999232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6B4A"/>
                </a:solidFill>
                <a:latin typeface="Aptos"/>
              </a:rPr>
              <a:t>Workout / wellness catalog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49039"/>
            <a:ext cx="340156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3913631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4136"/>
                </a:solidFill>
                <a:latin typeface="Aptos"/>
              </a:rPr>
              <a:t>Booking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4315968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C5C52"/>
                </a:solidFill>
                <a:latin typeface="Aptos"/>
              </a:rPr>
              <a:t>member • program • trainer • scheduledAt • 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4919472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6B4A"/>
                </a:solidFill>
                <a:latin typeface="Aptos"/>
              </a:rPr>
              <a:t>Member's confirmed history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749039"/>
            <a:ext cx="340156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07992" y="3913631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4136"/>
                </a:solidFill>
                <a:latin typeface="Aptos"/>
              </a:rPr>
              <a:t>Payment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7992" y="4315968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C5C52"/>
                </a:solidFill>
                <a:latin typeface="Aptos"/>
              </a:rPr>
              <a:t>booking • member • amount • method • 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7992" y="4919472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6B4A"/>
                </a:solidFill>
                <a:latin typeface="Aptos"/>
              </a:rPr>
              <a:t>Separate financial record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9" y="3749039"/>
            <a:ext cx="340156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1" y="3913631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4136"/>
                </a:solidFill>
                <a:latin typeface="Aptos"/>
              </a:rPr>
              <a:t>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1" y="4315968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C5C52"/>
                </a:solidFill>
                <a:latin typeface="Aptos"/>
              </a:rPr>
              <a:t>member • booking • trainer • program • rating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1" y="4919472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6B4A"/>
                </a:solidFill>
                <a:latin typeface="Aptos"/>
              </a:rPr>
              <a:t>One review per booking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806440"/>
            <a:ext cx="1097280" cy="310896"/>
          </a:xfrm>
          <a:prstGeom prst="roundRect">
            <a:avLst/>
          </a:prstGeom>
          <a:solidFill>
            <a:srgbClr val="F2B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820155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4211B"/>
                </a:solidFill>
                <a:latin typeface="Aptos"/>
              </a:rPr>
              <a:t>RELATIONSHIPS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74519" y="5815584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4211B"/>
                </a:solidFill>
                <a:latin typeface="Aptos"/>
              </a:rPr>
              <a:t>User → Trainer   |   User → Booking   |   Program → Booking   |   Trainer → Booking   |   Booking → Payment /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10528"/>
            <a:ext cx="749807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4C5C52"/>
                </a:solidFill>
                <a:latin typeface="Aptos"/>
              </a:rPr>
              <a:t>FITWELL  •  FULL-STACK FITNESS &amp; WELLNESS PLATFORM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E4136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E4136"/>
                </a:solidFill>
                <a:latin typeface="Aptos"/>
              </a:rPr>
              <a:t>08  • 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4211B"/>
                </a:solidFill>
                <a:latin typeface="Aptos Display"/>
              </a:rPr>
              <a:t>API, authentication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5331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C5C52"/>
                </a:solidFill>
                <a:latin typeface="Aptos"/>
              </a:rPr>
              <a:t>The server exposes focused REST endpoints and protects member-specific operations with JWT.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69037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18745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4136"/>
                </a:solidFill>
                <a:latin typeface="Aptos"/>
              </a:rPr>
              <a:t>Endpoint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057400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4136"/>
                </a:solidFill>
                <a:latin typeface="Aptos"/>
              </a:rP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205740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4136"/>
                </a:solidFill>
                <a:latin typeface="Aptos"/>
              </a:rPr>
              <a:t>Auth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8680" y="2377440"/>
            <a:ext cx="6400800" cy="0"/>
          </a:xfrm>
          <a:prstGeom prst="line">
            <a:avLst/>
          </a:prstGeom>
          <a:ln w="12700">
            <a:solidFill>
              <a:srgbClr val="D9DB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68680" y="2468880"/>
            <a:ext cx="187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4211B"/>
                </a:solidFill>
                <a:latin typeface="Aptos"/>
              </a:rPr>
              <a:t>POST  /api/auth/register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468880"/>
            <a:ext cx="2697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C5C52"/>
                </a:solidFill>
                <a:latin typeface="Aptos"/>
              </a:rPr>
              <a:t>Create account + return JWT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2468880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E4136"/>
                </a:solidFill>
                <a:latin typeface="Aptos"/>
              </a:rPr>
              <a:t>Public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8680" y="2898648"/>
            <a:ext cx="6400800" cy="0"/>
          </a:xfrm>
          <a:prstGeom prst="line">
            <a:avLst/>
          </a:prstGeom>
          <a:ln w="12700">
            <a:solidFill>
              <a:srgbClr val="D9DB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68680" y="2990088"/>
            <a:ext cx="187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4211B"/>
                </a:solidFill>
                <a:latin typeface="Aptos"/>
              </a:rPr>
              <a:t>POST  /api/auth/login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990088"/>
            <a:ext cx="2697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C5C52"/>
                </a:solidFill>
                <a:latin typeface="Aptos"/>
              </a:rPr>
              <a:t>Verify credentials + return JWT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299008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E4136"/>
                </a:solidFill>
                <a:latin typeface="Aptos"/>
              </a:rPr>
              <a:t>Public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8680" y="3419856"/>
            <a:ext cx="6400800" cy="0"/>
          </a:xfrm>
          <a:prstGeom prst="line">
            <a:avLst/>
          </a:prstGeom>
          <a:ln w="12700">
            <a:solidFill>
              <a:srgbClr val="D9DB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68680" y="3511296"/>
            <a:ext cx="187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4211B"/>
                </a:solidFill>
                <a:latin typeface="Aptos"/>
              </a:rPr>
              <a:t>GET   /api/programs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3511296"/>
            <a:ext cx="2697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C5C52"/>
                </a:solidFill>
                <a:latin typeface="Aptos"/>
              </a:rPr>
              <a:t>List active programs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3511296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E4136"/>
                </a:solidFill>
                <a:latin typeface="Aptos"/>
              </a:rPr>
              <a:t>Public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68680" y="3941064"/>
            <a:ext cx="6400800" cy="0"/>
          </a:xfrm>
          <a:prstGeom prst="line">
            <a:avLst/>
          </a:prstGeom>
          <a:ln w="12700">
            <a:solidFill>
              <a:srgbClr val="D9DB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68680" y="4032504"/>
            <a:ext cx="187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4211B"/>
                </a:solidFill>
                <a:latin typeface="Aptos"/>
              </a:rPr>
              <a:t>GET   /api/trainers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4032504"/>
            <a:ext cx="2697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C5C52"/>
                </a:solidFill>
                <a:latin typeface="Aptos"/>
              </a:rPr>
              <a:t>List trainers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4032504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E4136"/>
                </a:solidFill>
                <a:latin typeface="Aptos"/>
              </a:rPr>
              <a:t>Public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8680" y="4462272"/>
            <a:ext cx="6400800" cy="0"/>
          </a:xfrm>
          <a:prstGeom prst="line">
            <a:avLst/>
          </a:prstGeom>
          <a:ln w="12700">
            <a:solidFill>
              <a:srgbClr val="D9DB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68680" y="4553712"/>
            <a:ext cx="187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4211B"/>
                </a:solidFill>
                <a:latin typeface="Aptos"/>
              </a:rPr>
              <a:t>POST  /api/bookings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4553712"/>
            <a:ext cx="2697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C5C52"/>
                </a:solidFill>
                <a:latin typeface="Aptos"/>
              </a:rPr>
              <a:t>Create booking + payment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4553712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6B4A"/>
                </a:solidFill>
                <a:latin typeface="Aptos"/>
              </a:rPr>
              <a:t>JWT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8680" y="4983480"/>
            <a:ext cx="6400800" cy="0"/>
          </a:xfrm>
          <a:prstGeom prst="line">
            <a:avLst/>
          </a:prstGeom>
          <a:ln w="12700">
            <a:solidFill>
              <a:srgbClr val="D9DB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68680" y="5074920"/>
            <a:ext cx="187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4211B"/>
                </a:solidFill>
                <a:latin typeface="Aptos"/>
              </a:rPr>
              <a:t>GET   /api/bookings/mine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0360" y="5074920"/>
            <a:ext cx="2697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C5C52"/>
                </a:solidFill>
                <a:latin typeface="Aptos"/>
              </a:rPr>
              <a:t>Return current member bookings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5074920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6B4A"/>
                </a:solidFill>
                <a:latin typeface="Aptos"/>
              </a:rPr>
              <a:t>JWT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1828800"/>
            <a:ext cx="3611880" cy="4160520"/>
          </a:xfrm>
          <a:prstGeom prst="roundRect">
            <a:avLst/>
          </a:prstGeom>
          <a:solidFill>
            <a:srgbClr val="1E4136"/>
          </a:solidFill>
          <a:ln w="12700">
            <a:solidFill>
              <a:srgbClr val="1E4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0" y="2103120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Security &amp; validation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2743200"/>
            <a:ext cx="2880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D7E1DA"/>
                </a:solidFill>
                <a:latin typeface="Aptos"/>
              </a:defRPr>
            </a:pPr>
            <a:r>
              <a:t>• Passwords are hashed with bcryptjs.</a:t>
            </a:r>
          </a:p>
          <a:p>
            <a:pPr>
              <a:spcAft>
                <a:spcPts val="700"/>
              </a:spcAft>
              <a:defRPr sz="1000">
                <a:solidFill>
                  <a:srgbClr val="D7E1DA"/>
                </a:solidFill>
                <a:latin typeface="Aptos"/>
              </a:defRPr>
            </a:pPr>
            <a:r>
              <a:t>• JWT contains user ID and role and expires after 7 days.</a:t>
            </a:r>
          </a:p>
          <a:p>
            <a:pPr>
              <a:spcAft>
                <a:spcPts val="700"/>
              </a:spcAft>
              <a:defRPr sz="1000">
                <a:solidFill>
                  <a:srgbClr val="D7E1DA"/>
                </a:solidFill>
                <a:latin typeface="Aptos"/>
              </a:defRPr>
            </a:pPr>
            <a:r>
              <a:t>• Protected routes require a valid Bearer token.</a:t>
            </a:r>
          </a:p>
          <a:p>
            <a:pPr>
              <a:spcAft>
                <a:spcPts val="700"/>
              </a:spcAft>
              <a:defRPr sz="1000">
                <a:solidFill>
                  <a:srgbClr val="D7E1DA"/>
                </a:solidFill>
                <a:latin typeface="Aptos"/>
              </a:defRPr>
            </a:pPr>
            <a:r>
              <a:t>• Email format and password length are validated server-side.</a:t>
            </a:r>
          </a:p>
          <a:p>
            <a:pPr>
              <a:spcAft>
                <a:spcPts val="700"/>
              </a:spcAft>
              <a:defRPr sz="1000">
                <a:solidFill>
                  <a:srgbClr val="D7E1DA"/>
                </a:solidFill>
                <a:latin typeface="Aptos"/>
              </a:defRPr>
            </a:pPr>
            <a:r>
              <a:t>• Database uniqueness protects duplicate email accounts.</a:t>
            </a:r>
          </a:p>
          <a:p>
            <a:pPr>
              <a:spcAft>
                <a:spcPts val="700"/>
              </a:spcAft>
              <a:defRPr sz="1000">
                <a:solidFill>
                  <a:srgbClr val="D7E1DA"/>
                </a:solidFill>
                <a:latin typeface="Aptos"/>
              </a:defRPr>
            </a:pPr>
            <a:r>
              <a:t>• Errors return structured JSON with appropriate HTTP status codes.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5559552"/>
            <a:ext cx="1325880" cy="310896"/>
          </a:xfrm>
          <a:prstGeom prst="roundRect">
            <a:avLst/>
          </a:prstGeom>
          <a:solidFill>
            <a:srgbClr val="F2B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38160" y="5573268"/>
            <a:ext cx="1325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4211B"/>
                </a:solidFill>
                <a:latin typeface="Aptos"/>
              </a:rPr>
              <a:t>PRODUCTION NOTE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5550408"/>
            <a:ext cx="1554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ptos"/>
              </a:rPr>
              <a:t>Use HTTPS and a real payment gateway before deployment.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510528"/>
            <a:ext cx="749807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4C5C52"/>
                </a:solidFill>
                <a:latin typeface="Aptos"/>
              </a:rPr>
              <a:t>FITWELL  •  FULL-STACK FITNESS &amp; WELLNESS PLATFORM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E4136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E4136"/>
                </a:solidFill>
                <a:latin typeface="Aptos"/>
              </a:rPr>
              <a:t>09  • 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4211B"/>
                </a:solidFill>
                <a:latin typeface="Aptos Display"/>
              </a:rPr>
              <a:t>Impact, current status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5331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C5C52"/>
                </a:solidFill>
                <a:latin typeface="Aptos"/>
              </a:rPr>
              <a:t>A concise view of what is implemented today and how the project can evolve.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34747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121408"/>
            <a:ext cx="1783080" cy="310896"/>
          </a:xfrm>
          <a:prstGeom prst="roundRect">
            <a:avLst/>
          </a:prstGeom>
          <a:solidFill>
            <a:srgbClr val="2F5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35124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CURRENTLY IMPLEMENTED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2788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4211B"/>
                </a:solidFill>
                <a:latin typeface="Aptos"/>
              </a:rPr>
              <a:t>A functional full-stack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46120"/>
            <a:ext cx="2788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4C5C52"/>
                </a:solidFill>
                <a:latin typeface="Aptos"/>
              </a:defRPr>
            </a:pPr>
            <a:r>
              <a:t>• Responsive wellness-oriented frontend.</a:t>
            </a:r>
          </a:p>
          <a:p>
            <a:pPr>
              <a:spcAft>
                <a:spcPts val="700"/>
              </a:spcAft>
              <a:defRPr sz="1100">
                <a:solidFill>
                  <a:srgbClr val="4C5C52"/>
                </a:solidFill>
                <a:latin typeface="Aptos"/>
              </a:defRPr>
            </a:pPr>
            <a:r>
              <a:t>• Register / login with JWT authentication.</a:t>
            </a:r>
          </a:p>
          <a:p>
            <a:pPr>
              <a:spcAft>
                <a:spcPts val="700"/>
              </a:spcAft>
              <a:defRPr sz="1100">
                <a:solidFill>
                  <a:srgbClr val="4C5C52"/>
                </a:solidFill>
                <a:latin typeface="Aptos"/>
              </a:defRPr>
            </a:pPr>
            <a:r>
              <a:t>• Live program and trainer API endpoints.</a:t>
            </a:r>
          </a:p>
          <a:p>
            <a:pPr>
              <a:spcAft>
                <a:spcPts val="700"/>
              </a:spcAft>
              <a:defRPr sz="1100">
                <a:solidFill>
                  <a:srgbClr val="4C5C52"/>
                </a:solidFill>
                <a:latin typeface="Aptos"/>
              </a:defRPr>
            </a:pPr>
            <a:r>
              <a:t>• Book Now → trainer assignment → booking + payment record.</a:t>
            </a:r>
          </a:p>
          <a:p>
            <a:pPr>
              <a:spcAft>
                <a:spcPts val="700"/>
              </a:spcAft>
              <a:defRPr sz="1100">
                <a:solidFill>
                  <a:srgbClr val="4C5C52"/>
                </a:solidFill>
                <a:latin typeface="Aptos"/>
              </a:defRPr>
            </a:pPr>
            <a:r>
              <a:t>• My Bookings for the authenticated member.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874519"/>
            <a:ext cx="3474720" cy="3429000"/>
          </a:xfrm>
          <a:prstGeom prst="roundRect">
            <a:avLst/>
          </a:prstGeom>
          <a:solidFill>
            <a:srgbClr val="1E4136"/>
          </a:solidFill>
          <a:ln w="12700">
            <a:solidFill>
              <a:srgbClr val="1E4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99432" y="2121408"/>
            <a:ext cx="1417320" cy="310896"/>
          </a:xfrm>
          <a:prstGeom prst="roundRect">
            <a:avLst/>
          </a:prstGeom>
          <a:solidFill>
            <a:srgbClr val="F2B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2135124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4211B"/>
                </a:solidFill>
                <a:latin typeface="Aptos"/>
              </a:rPr>
              <a:t>READY TO EXTEND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606040"/>
            <a:ext cx="2788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Turn the prototype into a production 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3310128"/>
            <a:ext cx="2788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D7E1DA"/>
                </a:solidFill>
                <a:latin typeface="Aptos"/>
              </a:defRPr>
            </a:pPr>
            <a:r>
              <a:t>• Integrate Razorpay / Stripe instead of mocked payment.</a:t>
            </a:r>
          </a:p>
          <a:p>
            <a:pPr>
              <a:spcAft>
                <a:spcPts val="700"/>
              </a:spcAft>
              <a:defRPr sz="1100">
                <a:solidFill>
                  <a:srgbClr val="D7E1DA"/>
                </a:solidFill>
                <a:latin typeface="Aptos"/>
              </a:defRPr>
            </a:pPr>
            <a:r>
              <a:t>• Add real scheduling and trainer availability.</a:t>
            </a:r>
          </a:p>
          <a:p>
            <a:pPr>
              <a:spcAft>
                <a:spcPts val="700"/>
              </a:spcAft>
              <a:defRPr sz="1100">
                <a:solidFill>
                  <a:srgbClr val="D7E1DA"/>
                </a:solidFill>
                <a:latin typeface="Aptos"/>
              </a:defRPr>
            </a:pPr>
            <a:r>
              <a:t>• Implement review creation and richer member profiles.</a:t>
            </a:r>
          </a:p>
          <a:p>
            <a:pPr>
              <a:spcAft>
                <a:spcPts val="700"/>
              </a:spcAft>
              <a:defRPr sz="1100">
                <a:solidFill>
                  <a:srgbClr val="D7E1DA"/>
                </a:solidFill>
                <a:latin typeface="Aptos"/>
              </a:defRPr>
            </a:pPr>
            <a:r>
              <a:t>• Add admin dashboard and analytics.</a:t>
            </a:r>
          </a:p>
          <a:p>
            <a:pPr>
              <a:spcAft>
                <a:spcPts val="700"/>
              </a:spcAft>
              <a:defRPr sz="1100">
                <a:solidFill>
                  <a:srgbClr val="D7E1DA"/>
                </a:solidFill>
                <a:latin typeface="Aptos"/>
              </a:defRPr>
            </a:pPr>
            <a:r>
              <a:t>• Add notifications, reminders and progress tracking.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1874519"/>
            <a:ext cx="34290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30183" y="2121408"/>
            <a:ext cx="1051560" cy="310896"/>
          </a:xfrm>
          <a:prstGeom prst="round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0183" y="2135124"/>
            <a:ext cx="1051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DEMO / SETUP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3" y="260604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4211B"/>
                </a:solidFill>
                <a:latin typeface="Aptos"/>
              </a:rPr>
              <a:t>Run it locally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3" y="3182112"/>
            <a:ext cx="2743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C5C52"/>
                </a:solidFill>
                <a:latin typeface="Aptos"/>
              </a:rPr>
              <a:t>1  Configure .env with MONGODB_URI + JWT_SECRET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3" y="3657600"/>
            <a:ext cx="2743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C5C52"/>
                </a:solidFill>
                <a:latin typeface="Aptos"/>
              </a:rPr>
              <a:t>2  npm install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0183" y="4133087"/>
            <a:ext cx="2743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C5C52"/>
                </a:solidFill>
                <a:latin typeface="Aptos"/>
              </a:rPr>
              <a:t>3  npm run seed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3" y="4608576"/>
            <a:ext cx="2743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C5C52"/>
                </a:solidFill>
                <a:latin typeface="Aptos"/>
              </a:rPr>
              <a:t>4  npm start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3" y="5084064"/>
            <a:ext cx="2743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C5C52"/>
                </a:solidFill>
                <a:latin typeface="Aptos"/>
              </a:rPr>
              <a:t>5  Open http://localhost:3000/home.html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532120"/>
            <a:ext cx="10881360" cy="566928"/>
          </a:xfrm>
          <a:prstGeom prst="roundRect">
            <a:avLst/>
          </a:prstGeom>
          <a:solidFill>
            <a:srgbClr val="DCE7DD"/>
          </a:solidFill>
          <a:ln w="12700">
            <a:solidFill>
              <a:srgbClr val="DC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660136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E4136"/>
                </a:solidFill>
                <a:latin typeface="Aptos"/>
              </a:rPr>
              <a:t>FITWELL connects fitness discovery, trainer support and booking into one simple digital experience.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749807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4C5C52"/>
                </a:solidFill>
                <a:latin typeface="Aptos"/>
              </a:rPr>
              <a:t>FITWELL  •  FULL-STACK FITNESS &amp; WELLNESS 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E4136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